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5dWfHsgp23BqOeAFjSACpTM4n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6c26bd18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688409" y="1295400"/>
            <a:ext cx="376703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CS4743 MACHINE LEARNING PROJECT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462586" y="1714500"/>
            <a:ext cx="62186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 Card Fraud Detection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924770" y="2438400"/>
            <a:ext cx="32941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Using Machine Learning Classification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40069" y="3352800"/>
            <a:ext cx="26635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Basil Mohad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40069" y="3657600"/>
            <a:ext cx="26635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Texas State University • November 25, 202</a:t>
            </a:r>
            <a:r>
              <a:rPr lang="en-US" sz="1050">
                <a:solidFill>
                  <a:srgbClr val="8BA3C7"/>
                </a:solidFill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d2698f03.png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105400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6fefa456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285750" y="228600"/>
            <a:ext cx="47314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&amp; Problem Statement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04800" y="1285875"/>
            <a:ext cx="5562600" cy="971550"/>
          </a:xfrm>
          <a:prstGeom prst="roundRect">
            <a:avLst>
              <a:gd fmla="val 784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323850" y="1285875"/>
            <a:ext cx="0" cy="971550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495300" y="1438275"/>
            <a:ext cx="53240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95300" y="1704975"/>
            <a:ext cx="532409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 card fraud causes billions in losses annually. Financial institutions need automated systems to detect fraudulent transactions in real-time.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04800" y="2409825"/>
            <a:ext cx="5562600" cy="971550"/>
          </a:xfrm>
          <a:prstGeom prst="roundRect">
            <a:avLst>
              <a:gd fmla="val 784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323850" y="2409825"/>
            <a:ext cx="0" cy="971550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495300" y="2562225"/>
            <a:ext cx="53240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95300" y="2828925"/>
            <a:ext cx="532409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Extreme class imbalance: Fraud is only ~0.2% of transactions. Traditional accuracy metrics are misleading.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04800" y="3533775"/>
            <a:ext cx="5562600" cy="971550"/>
          </a:xfrm>
          <a:prstGeom prst="roundRect">
            <a:avLst>
              <a:gd fmla="val 784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323850" y="3533775"/>
            <a:ext cx="0" cy="971550"/>
          </a:xfrm>
          <a:prstGeom prst="straightConnector1">
            <a:avLst/>
          </a:prstGeom>
          <a:noFill/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495300" y="3686175"/>
            <a:ext cx="53240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THE GOAL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95300" y="3952875"/>
            <a:ext cx="532409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model to accurately identify fraudulent transactions while minimizing false positives.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172200" y="1257300"/>
            <a:ext cx="2667000" cy="990600"/>
          </a:xfrm>
          <a:prstGeom prst="roundRect">
            <a:avLst>
              <a:gd fmla="val 7692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339840" y="1447800"/>
            <a:ext cx="23317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150K+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339840" y="1866900"/>
            <a:ext cx="23317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Total Transactions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72200" y="2400300"/>
            <a:ext cx="2667000" cy="990600"/>
          </a:xfrm>
          <a:prstGeom prst="roundRect">
            <a:avLst>
              <a:gd fmla="val 7692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339840" y="2590800"/>
            <a:ext cx="23317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~0.2%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339840" y="3009900"/>
            <a:ext cx="23317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Fraud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172200" y="3543300"/>
            <a:ext cx="2667000" cy="990600"/>
          </a:xfrm>
          <a:prstGeom prst="roundRect">
            <a:avLst>
              <a:gd fmla="val 7692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339840" y="3733800"/>
            <a:ext cx="23317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39840" y="4152900"/>
            <a:ext cx="23317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Features (PCA)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103198a8.png" id="56" name="Google Shape;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285750" y="228600"/>
            <a:ext cx="44788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Overview: Class Imbalance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04800" y="1212354"/>
            <a:ext cx="4488805" cy="3366492"/>
          </a:xfrm>
          <a:prstGeom prst="roundRect">
            <a:avLst>
              <a:gd fmla="val 22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esentation/class_distribution.png" id="59" name="Google Shape;5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212354"/>
            <a:ext cx="4488805" cy="336649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5098405" y="1110853"/>
            <a:ext cx="3740795" cy="1017091"/>
          </a:xfrm>
          <a:prstGeom prst="roundRect">
            <a:avLst>
              <a:gd fmla="val 7492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250805" y="1263253"/>
            <a:ext cx="35047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WHAT THIS SHOWS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250805" y="1549003"/>
            <a:ext cx="350471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bar chart shows the extreme imbalance between legitimate (0) and fraudulent (1) transactions.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98405" y="2280345"/>
            <a:ext cx="3740795" cy="1230362"/>
          </a:xfrm>
          <a:prstGeom prst="roundRect">
            <a:avLst>
              <a:gd fmla="val 619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250805" y="2432745"/>
            <a:ext cx="35047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KEY INSIGHT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250805" y="2718495"/>
            <a:ext cx="350471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~150,000 legitimate vs only ~300 fraud cases. A naive model predicting "not fraud" would be 99.8% accurate but useless!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098405" y="3663107"/>
            <a:ext cx="3740795" cy="1017091"/>
          </a:xfrm>
          <a:prstGeom prst="roundRect">
            <a:avLst>
              <a:gd fmla="val 7492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250805" y="3815507"/>
            <a:ext cx="35047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IMPLICATION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250805" y="4101257"/>
            <a:ext cx="350471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 use ROC-AUC, not accuracy. Need class weights or resampling techniques.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cb0d834c.pn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Distributions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04800" y="838200"/>
            <a:ext cx="8534400" cy="289560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esentation/feature_distribution.png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354634"/>
            <a:ext cx="8382000" cy="186258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304800" y="3886200"/>
            <a:ext cx="2743200" cy="1028700"/>
          </a:xfrm>
          <a:prstGeom prst="roundRect">
            <a:avLst>
              <a:gd fmla="val 7407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38150" y="4019550"/>
            <a:ext cx="252603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TRANSACTION AMOUNT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38150" y="4267200"/>
            <a:ext cx="25260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Highly right-skewed distribution. Most transactions are small ($0-500). Outliers up to $7000. Requires scaling.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200400" y="3886200"/>
            <a:ext cx="2743200" cy="1028700"/>
          </a:xfrm>
          <a:prstGeom prst="roundRect">
            <a:avLst>
              <a:gd fmla="val 7407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333750" y="4019550"/>
            <a:ext cx="252603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TRANSACTION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333750" y="4267200"/>
            <a:ext cx="25260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Bimodal pattern showing daily cycles (day/night activity). Spans ~48 hours of data. May contain temporal fraud patterns.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096000" y="3886200"/>
            <a:ext cx="2743200" cy="1028700"/>
          </a:xfrm>
          <a:prstGeom prst="roundRect">
            <a:avLst>
              <a:gd fmla="val 7407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229350" y="4019550"/>
            <a:ext cx="252603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229350" y="4267200"/>
            <a:ext cx="25260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Used RobustScaler on Time &amp; Amount. Robust to outliers - uses median/IQR instead of mean/std.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7291f33f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Correlation Analysis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04800" y="1513433"/>
            <a:ext cx="5375970" cy="2726085"/>
          </a:xfrm>
          <a:prstGeom prst="roundRect">
            <a:avLst>
              <a:gd fmla="val 279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esentation/correlation_matrix.png"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" y="1551533"/>
            <a:ext cx="5299770" cy="264988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5985558" y="1590450"/>
            <a:ext cx="2853600" cy="1047900"/>
          </a:xfrm>
          <a:prstGeom prst="roundRect">
            <a:avLst>
              <a:gd fmla="val 727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118908" y="1723800"/>
            <a:ext cx="2638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WHAT THIS SHOWS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118908" y="1990500"/>
            <a:ext cx="2638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Heatmap of correlations between all features. Blue = positive, Red = negative. Diagonal is always 1 (self-correlation).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985570" y="2946000"/>
            <a:ext cx="2853600" cy="1047900"/>
          </a:xfrm>
          <a:prstGeom prst="roundRect">
            <a:avLst>
              <a:gd fmla="val 727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118920" y="3079350"/>
            <a:ext cx="2638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IMPLICATION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118920" y="3346050"/>
            <a:ext cx="2638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 multicollinearity is good for model stability. PCA preprocessing already handled feature independence.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f4c2b6bb.png"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04800" y="876300"/>
            <a:ext cx="1585020" cy="1196280"/>
          </a:xfrm>
          <a:prstGeom prst="roundRect">
            <a:avLst>
              <a:gd fmla="val 637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24967" y="1009650"/>
            <a:ext cx="134468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24967" y="1405830"/>
            <a:ext cx="13446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24967" y="1634430"/>
            <a:ext cx="13446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RobustScaler on Time &amp; Amount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042220" y="952500"/>
            <a:ext cx="1585020" cy="1043880"/>
          </a:xfrm>
          <a:prstGeom prst="roundRect">
            <a:avLst>
              <a:gd fmla="val 73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162386" y="1085850"/>
            <a:ext cx="134468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162386" y="1482030"/>
            <a:ext cx="13446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2162386" y="1710630"/>
            <a:ext cx="13446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80/20 stratified train-test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779639" y="952500"/>
            <a:ext cx="1585020" cy="1043880"/>
          </a:xfrm>
          <a:prstGeom prst="roundRect">
            <a:avLst>
              <a:gd fmla="val 73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899806" y="1085850"/>
            <a:ext cx="134468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899806" y="1482030"/>
            <a:ext cx="13446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899806" y="1710630"/>
            <a:ext cx="13446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ProbaBoost Ensemble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517059" y="952500"/>
            <a:ext cx="1585020" cy="1043880"/>
          </a:xfrm>
          <a:prstGeom prst="roundRect">
            <a:avLst>
              <a:gd fmla="val 73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637225" y="1085850"/>
            <a:ext cx="134468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637225" y="1482030"/>
            <a:ext cx="13446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637225" y="1710630"/>
            <a:ext cx="13446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F1-Score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254478" y="952500"/>
            <a:ext cx="1585020" cy="1043880"/>
          </a:xfrm>
          <a:prstGeom prst="roundRect">
            <a:avLst>
              <a:gd fmla="val 73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374645" y="1085850"/>
            <a:ext cx="134468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374645" y="1482030"/>
            <a:ext cx="13446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374645" y="1710630"/>
            <a:ext cx="13446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ROC-AUC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04800" y="2960340"/>
            <a:ext cx="2743200" cy="1219200"/>
          </a:xfrm>
          <a:prstGeom prst="roundRect">
            <a:avLst>
              <a:gd fmla="val 6250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3112740"/>
            <a:ext cx="2487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PROBA BOOST (Main Model)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" y="33984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Ensemble of conditional probability classifiers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36270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boosters with 20 buckets each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" y="38556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Bootstrapped samples for diversity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200400" y="2960340"/>
            <a:ext cx="2743200" cy="1219200"/>
          </a:xfrm>
          <a:prstGeom prst="roundRect">
            <a:avLst>
              <a:gd fmla="val 6250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352800" y="3112740"/>
            <a:ext cx="2487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THRESHOLD OPTIMIZATION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352800" y="33984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Default 0.5 threshold caught 0 fraud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352800" y="36270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Searched across probability 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352800" y="38556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Optimized for best F1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096000" y="2960340"/>
            <a:ext cx="2743200" cy="1219200"/>
          </a:xfrm>
          <a:prstGeom prst="roundRect">
            <a:avLst>
              <a:gd fmla="val 6250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248400" y="3112740"/>
            <a:ext cx="2487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WHY ROC-AUC?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48400" y="33984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 well with imbalanced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248400" y="36270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Measures ranking ability, not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248400" y="3855690"/>
            <a:ext cx="2487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Competition evaluation metric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f96c7c3a.png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285750" y="228600"/>
            <a:ext cx="4653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Results: ROC Curve Performance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04800" y="1163092"/>
            <a:ext cx="4518422" cy="3426916"/>
          </a:xfrm>
          <a:prstGeom prst="roundRect">
            <a:avLst>
              <a:gd fmla="val 22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esentation/roc_curve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239292"/>
            <a:ext cx="4366022" cy="3274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rasterized-gradient-3dafcfa4.png" id="153" name="Google Shape;15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8022" y="1032570"/>
            <a:ext cx="3711178" cy="128766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5304651" y="1242120"/>
            <a:ext cx="3357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AUC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304651" y="1470720"/>
            <a:ext cx="3357920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0.7361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128022" y="2472630"/>
            <a:ext cx="3711178" cy="1047750"/>
          </a:xfrm>
          <a:prstGeom prst="roundRect">
            <a:avLst>
              <a:gd fmla="val 727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261372" y="2605980"/>
            <a:ext cx="35133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HOW TO READ THIS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261372" y="2872680"/>
            <a:ext cx="351336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X-axis: False Positive Rate (incorrectly flagged as fraud)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Y-axis: True Positive Rate (correctly caught fraud)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Dashed line = random guessing (0.5)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128022" y="3672780"/>
            <a:ext cx="3711178" cy="1047750"/>
          </a:xfrm>
          <a:prstGeom prst="roundRect">
            <a:avLst>
              <a:gd fmla="val 727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261372" y="3806130"/>
            <a:ext cx="35133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261372" y="4072830"/>
            <a:ext cx="351336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AUC = 0.7361 means the model correctly ranks a random fraud above a random non-fraud 73.6% of the time. Well above random (50%).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e46b5081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285750" y="228600"/>
            <a:ext cx="47800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Problem: Zero Fraud Detected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04800" y="1268016"/>
            <a:ext cx="4219575" cy="3217069"/>
          </a:xfrm>
          <a:prstGeom prst="roundRect">
            <a:avLst>
              <a:gd fmla="val 2369" name="adj"/>
            </a:avLst>
          </a:prstGeom>
          <a:solidFill>
            <a:srgbClr val="FFFFFF"/>
          </a:solidFill>
          <a:ln cap="flat" cmpd="sng" w="285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esentation/confusion_matrix.png" id="170" name="Google Shape;1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575" y="1372791"/>
            <a:ext cx="4010025" cy="300751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4829175" y="848023"/>
            <a:ext cx="4010025" cy="898922"/>
          </a:xfrm>
          <a:prstGeom prst="roundRect">
            <a:avLst>
              <a:gd fmla="val 8477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8"/>
          <p:cNvCxnSpPr/>
          <p:nvPr/>
        </p:nvCxnSpPr>
        <p:spPr>
          <a:xfrm>
            <a:off x="4848225" y="848023"/>
            <a:ext cx="0" cy="898922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8"/>
          <p:cNvSpPr/>
          <p:nvPr/>
        </p:nvSpPr>
        <p:spPr>
          <a:xfrm>
            <a:off x="5000625" y="981373"/>
            <a:ext cx="37793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WHAT WENT WRONG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000625" y="1248073"/>
            <a:ext cx="3779329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model predicted 0 fraud cases! All 54 actual frauds were missed (bottom-left). It only predicted "not fraud" for everything.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829175" y="1899345"/>
            <a:ext cx="4010025" cy="1081683"/>
          </a:xfrm>
          <a:prstGeom prst="roundRect">
            <a:avLst>
              <a:gd fmla="val 7045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962525" y="2032695"/>
            <a:ext cx="3818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WHY THIS HAPPENED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962525" y="2299395"/>
            <a:ext cx="3818192" cy="548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99.8% legitimate transactions, the model learned fraud is extremely rare. It outputs very low probabilities like 0.001 - 0.05 for everything. At the default 0.5 threshold, nothing crosses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829175" y="3133427"/>
            <a:ext cx="1928813" cy="762000"/>
          </a:xfrm>
          <a:prstGeom prst="roundRect">
            <a:avLst>
              <a:gd fmla="val 1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945904" y="3266777"/>
            <a:ext cx="16953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Fraud Caught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945904" y="3457277"/>
            <a:ext cx="16953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0 / 54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910388" y="3133427"/>
            <a:ext cx="1928813" cy="762000"/>
          </a:xfrm>
          <a:prstGeom prst="roundRect">
            <a:avLst>
              <a:gd fmla="val 1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027116" y="3266777"/>
            <a:ext cx="16953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027116" y="3457277"/>
            <a:ext cx="16953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829175" y="4047827"/>
            <a:ext cx="4010025" cy="857250"/>
          </a:xfrm>
          <a:prstGeom prst="roundRect">
            <a:avLst>
              <a:gd fmla="val 8889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962525" y="4181177"/>
            <a:ext cx="3818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THE LESSON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962525" y="4428827"/>
            <a:ext cx="38181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Good AUC (0.74) but useless predictions! The model CAN rank fraud higher - we just need to find the right threshold.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a531bad1.png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285750" y="228600"/>
            <a:ext cx="51977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Solution: Threshold Optimization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04800" y="1287066"/>
            <a:ext cx="4219575" cy="3217069"/>
          </a:xfrm>
          <a:prstGeom prst="roundRect">
            <a:avLst>
              <a:gd fmla="val 2369" name="adj"/>
            </a:avLst>
          </a:prstGeom>
          <a:solidFill>
            <a:srgbClr val="FFFFFF"/>
          </a:solidFill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esentation/confusion_matrix_new.png" id="195" name="Google Shape;1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575" y="1391841"/>
            <a:ext cx="4010025" cy="300751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4829175" y="1230660"/>
            <a:ext cx="4010025" cy="819150"/>
          </a:xfrm>
          <a:prstGeom prst="roundRect">
            <a:avLst>
              <a:gd fmla="val 9302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9"/>
          <p:cNvCxnSpPr/>
          <p:nvPr/>
        </p:nvCxnSpPr>
        <p:spPr>
          <a:xfrm>
            <a:off x="4848225" y="1230660"/>
            <a:ext cx="0" cy="819150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9"/>
          <p:cNvSpPr/>
          <p:nvPr/>
        </p:nvSpPr>
        <p:spPr>
          <a:xfrm>
            <a:off x="4981575" y="1344960"/>
            <a:ext cx="3818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WHAT WE FIXED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981575" y="1592610"/>
            <a:ext cx="38181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Switched to ProbaBoost ensemble and optimized threshold using F1-score. Searched across the full probability range.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829175" y="2126010"/>
            <a:ext cx="4010025" cy="819150"/>
          </a:xfrm>
          <a:prstGeom prst="roundRect">
            <a:avLst>
              <a:gd fmla="val 9302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943475" y="2240310"/>
            <a:ext cx="385705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THE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943475" y="2487960"/>
            <a:ext cx="38570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TN (29,819):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Correct non-fraud | </a:t>
            </a:r>
            <a:r>
              <a:rPr b="0" i="0" lang="en-US" sz="9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FP (127):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False alarms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FN (43):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Missed fraud | </a:t>
            </a: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TP (11):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Caught fraud!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829175" y="3021360"/>
            <a:ext cx="1928813" cy="685800"/>
          </a:xfrm>
          <a:prstGeom prst="roundRect">
            <a:avLst>
              <a:gd fmla="val 11111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926473" y="3135660"/>
            <a:ext cx="173421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Fraud Caught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926473" y="3326160"/>
            <a:ext cx="17342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11 / 54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910388" y="3021360"/>
            <a:ext cx="1928813" cy="685800"/>
          </a:xfrm>
          <a:prstGeom prst="roundRect">
            <a:avLst>
              <a:gd fmla="val 11111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007685" y="3135660"/>
            <a:ext cx="173421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007685" y="3326160"/>
            <a:ext cx="17342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829175" y="3783360"/>
            <a:ext cx="4010025" cy="777180"/>
          </a:xfrm>
          <a:prstGeom prst="roundRect">
            <a:avLst>
              <a:gd fmla="val 9805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943475" y="3897660"/>
            <a:ext cx="385705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THE TRADEOFF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943475" y="4126260"/>
            <a:ext cx="3857054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127 false alarms is acceptable - investigating false alarms is cheaper than missing real fraud! Note: This ha</a:t>
            </a:r>
            <a:r>
              <a:rPr lang="en-US" sz="900">
                <a:solidFill>
                  <a:srgbClr val="FFFFFF"/>
                </a:solidFill>
              </a:rPr>
              <a:t>d AUC-ROC 0.8001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19e0869.png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Importance Analysis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04800" y="881658"/>
            <a:ext cx="4968180" cy="3989784"/>
          </a:xfrm>
          <a:prstGeom prst="roundRect">
            <a:avLst>
              <a:gd fmla="val 19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esentation/feature_importance.png" id="220" name="Google Shape;22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" y="919758"/>
            <a:ext cx="4891980" cy="391358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5577780" y="1215628"/>
            <a:ext cx="3261420" cy="876300"/>
          </a:xfrm>
          <a:prstGeom prst="roundRect">
            <a:avLst>
              <a:gd fmla="val 869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711130" y="1348978"/>
            <a:ext cx="30546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PERMUTATION IMPORTANCE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711130" y="1615678"/>
            <a:ext cx="3054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Measures how much performance drops when each feature is randomly shuffled. Higher = more important.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577780" y="2244328"/>
            <a:ext cx="3261420" cy="1264444"/>
          </a:xfrm>
          <a:prstGeom prst="roundRect">
            <a:avLst>
              <a:gd fmla="val 602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711130" y="2377678"/>
            <a:ext cx="30546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TOP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711130" y="2644378"/>
            <a:ext cx="3054614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feat21 - Highest importance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feat26 - High with variance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feat23, feat8, feat7 - Moderate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scaled_amount - Transaction size matters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577780" y="3661172"/>
            <a:ext cx="3261420" cy="876300"/>
          </a:xfrm>
          <a:prstGeom prst="roundRect">
            <a:avLst>
              <a:gd fmla="val 869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711130" y="3794522"/>
            <a:ext cx="30546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NEGATIVE IMPORTANCE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711130" y="4061222"/>
            <a:ext cx="3054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feat3, feat10 show negative importance - shuffling them improves performance, suggesting noise or overfitting.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d0d0916b.png" id="235" name="Google Shape;2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2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Work &amp; Improvements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304800" y="1038225"/>
            <a:ext cx="2743200" cy="1619250"/>
          </a:xfrm>
          <a:prstGeom prst="roundRect">
            <a:avLst>
              <a:gd fmla="val 470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52bfba93.png" id="238" name="Google Shape;23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2096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/>
          <p:nvPr/>
        </p:nvSpPr>
        <p:spPr>
          <a:xfrm>
            <a:off x="476250" y="1704975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Resampling Techniques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476250" y="1971675"/>
            <a:ext cx="24483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Apply SMOTE (Synthetic Minority Oversampling) or ADASYN to generate synthetic fraud samples and balance classes.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3200400" y="1038225"/>
            <a:ext cx="2743200" cy="1619250"/>
          </a:xfrm>
          <a:prstGeom prst="roundRect">
            <a:avLst>
              <a:gd fmla="val 470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33a9f0b7.png" id="242" name="Google Shape;24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1850" y="12096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3371850" y="1704975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Hyperparameter Tuning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3371850" y="1971675"/>
            <a:ext cx="24483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Use GridSearchCV or Optuna to find optimal learning rate, max depth, and iterations for better performance.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096000" y="1123950"/>
            <a:ext cx="2743200" cy="1447800"/>
          </a:xfrm>
          <a:prstGeom prst="roundRect">
            <a:avLst>
              <a:gd fmla="val 5263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b5479193.png" id="246" name="Google Shape;24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7450" y="1295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/>
          <p:nvPr/>
        </p:nvSpPr>
        <p:spPr>
          <a:xfrm>
            <a:off x="6267450" y="1790700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Ensemble Methods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6267450" y="2057400"/>
            <a:ext cx="24483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Combine XGBoost, LightGBM, and CatBoost via stacking or voting for improved robustness.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04800" y="3133725"/>
            <a:ext cx="2743200" cy="1619250"/>
          </a:xfrm>
          <a:prstGeom prst="roundRect">
            <a:avLst>
              <a:gd fmla="val 470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5413ce65.png" id="250" name="Google Shape;25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3305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/>
          <p:nvPr/>
        </p:nvSpPr>
        <p:spPr>
          <a:xfrm>
            <a:off x="476250" y="3800475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Threshold Optimization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476250" y="4067175"/>
            <a:ext cx="24483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Find optimal classification threshold using precision-recall curve to balance fraud detection vs false alarms.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3200400" y="3133725"/>
            <a:ext cx="2743200" cy="1619250"/>
          </a:xfrm>
          <a:prstGeom prst="roundRect">
            <a:avLst>
              <a:gd fmla="val 470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69d5428.png" id="254" name="Google Shape;25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71850" y="3305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/>
          <p:nvPr/>
        </p:nvSpPr>
        <p:spPr>
          <a:xfrm>
            <a:off x="3371850" y="3800475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371850" y="4067175"/>
            <a:ext cx="24483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Create time-based features (hour of day, weekend), transaction frequency features, and amount ratios.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096000" y="3133725"/>
            <a:ext cx="2743200" cy="1619250"/>
          </a:xfrm>
          <a:prstGeom prst="roundRect">
            <a:avLst>
              <a:gd fmla="val 4706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136132e9.png" id="258" name="Google Shape;258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67450" y="3305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6267450" y="3800475"/>
            <a:ext cx="24483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Anomaly Detection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267450" y="4067175"/>
            <a:ext cx="24483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Try Isolation Forest or Autoencoders to treat fraud as anomalies rather than classification problem.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9149d5db.png" id="266" name="Google Shape;2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304800" y="1223963"/>
            <a:ext cx="5120580" cy="2162026"/>
          </a:xfrm>
          <a:prstGeom prst="roundRect">
            <a:avLst>
              <a:gd fmla="val 5287" name="adj"/>
            </a:avLst>
          </a:prstGeom>
          <a:solidFill>
            <a:srgbClr val="1627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33400" y="1452563"/>
            <a:ext cx="475664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33400" y="1795463"/>
            <a:ext cx="4756648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a credit card fraud detection model using </a:t>
            </a:r>
            <a:r>
              <a:rPr lang="en-US" sz="1050">
                <a:solidFill>
                  <a:srgbClr val="FFFFFF"/>
                </a:solidFill>
              </a:rPr>
              <a:t>XGboost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achieving an ROC-AUC of </a:t>
            </a:r>
            <a:r>
              <a:rPr b="1" lang="en-US" sz="1050">
                <a:solidFill>
                  <a:srgbClr val="00D4AA"/>
                </a:solidFill>
              </a:rPr>
              <a:t>0.8001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33400" y="2363093"/>
            <a:ext cx="4756648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Successfully addressed the extreme class imbalance challenge through appropriate evaluation metrics and preprocessing.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33400" y="2930723"/>
            <a:ext cx="4756648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Identified key predictive features through permutation importance analysis.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39eabb54.png" id="273" name="Google Shape;27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0180" y="1104900"/>
            <a:ext cx="310902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/>
          <p:nvPr/>
        </p:nvSpPr>
        <p:spPr>
          <a:xfrm>
            <a:off x="5912831" y="1314450"/>
            <a:ext cx="2743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FINAL AUC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912831" y="1504950"/>
            <a:ext cx="27437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0D4AA"/>
                </a:solidFill>
              </a:rPr>
              <a:t>0.8001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ee60f275.png" id="276" name="Google Shape;27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0180" y="2400300"/>
            <a:ext cx="310902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/>
          <p:nvPr/>
        </p:nvSpPr>
        <p:spPr>
          <a:xfrm>
            <a:off x="5893400" y="2590800"/>
            <a:ext cx="27825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BA3C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rPr>
              <a:t>IMPROVEMENT OVER RANDOM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893400" y="2781300"/>
            <a:ext cx="27825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lang="en-US" sz="3000">
                <a:solidFill>
                  <a:srgbClr val="4ECDC4"/>
                </a:solidFill>
              </a:rPr>
              <a:t>50</a:t>
            </a:r>
            <a:r>
              <a:rPr b="1" i="0" lang="en-US" sz="30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3afdbf0.png" id="279" name="Google Shape;27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0" y="4000500"/>
            <a:ext cx="853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/>
          <p:nvPr/>
        </p:nvSpPr>
        <p:spPr>
          <a:xfrm>
            <a:off x="413766" y="4191000"/>
            <a:ext cx="831646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Thank You! Questions?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13766" y="4533900"/>
            <a:ext cx="83164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GitHub Repository: github.com/basilmohad/fraud-detection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2025-11-25T06:24:55Z</dcterms:created>
  <dc:creator>Basil Mohad</dc:creator>
</cp:coreProperties>
</file>